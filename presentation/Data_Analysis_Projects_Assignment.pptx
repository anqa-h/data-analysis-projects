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9" r:id="rId12"/>
    <p:sldId id="265" r:id="rId13"/>
    <p:sldId id="270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 Omair" userId="a18f4e514628e0dd" providerId="LiveId" clId="{74FB0C76-0E30-44D8-AEA4-D0CEC9C4A56B}"/>
    <pc:docChg chg="custSel modSld">
      <pc:chgData name="Abdullah Omair" userId="a18f4e514628e0dd" providerId="LiveId" clId="{74FB0C76-0E30-44D8-AEA4-D0CEC9C4A56B}" dt="2026-05-04T12:32:43.270" v="2" actId="1076"/>
      <pc:docMkLst>
        <pc:docMk/>
      </pc:docMkLst>
      <pc:sldChg chg="addSp delSp modSp mod">
        <pc:chgData name="Abdullah Omair" userId="a18f4e514628e0dd" providerId="LiveId" clId="{74FB0C76-0E30-44D8-AEA4-D0CEC9C4A56B}" dt="2026-05-04T12:32:43.270" v="2" actId="1076"/>
        <pc:sldMkLst>
          <pc:docMk/>
          <pc:sldMk cId="0" sldId="256"/>
        </pc:sldMkLst>
        <pc:spChg chg="del">
          <ac:chgData name="Abdullah Omair" userId="a18f4e514628e0dd" providerId="LiveId" clId="{74FB0C76-0E30-44D8-AEA4-D0CEC9C4A56B}" dt="2026-05-04T12:32:29.137" v="0" actId="478"/>
          <ac:spMkLst>
            <pc:docMk/>
            <pc:sldMk cId="0" sldId="256"/>
            <ac:spMk id="17" creationId="{00000000-0000-0000-0000-000000000000}"/>
          </ac:spMkLst>
        </pc:spChg>
        <pc:picChg chg="add mod">
          <ac:chgData name="Abdullah Omair" userId="a18f4e514628e0dd" providerId="LiveId" clId="{74FB0C76-0E30-44D8-AEA4-D0CEC9C4A56B}" dt="2026-05-04T12:32:43.270" v="2" actId="1076"/>
          <ac:picMkLst>
            <pc:docMk/>
            <pc:sldMk cId="0" sldId="256"/>
            <ac:picMk id="21" creationId="{CEDD0D79-A54B-B5F0-1F05-547D05C5B8C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80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F2BD-B4FA-26D3-DB55-33B765FB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6ED44-FC9F-8C34-406C-F642E1A3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1C28D-11C2-791B-E775-598C0AECB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44D2D-027C-E2E3-7369-C807A2162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0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873F1-45D6-E041-D4F3-0C41F052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D0400-8267-AF11-D0E2-4DD764EB1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35ACB-B67F-2FCC-5C5F-8E14BD254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8FB1C-9DAD-7B45-43BD-51C051198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92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7369-96FA-D272-2A37-8F2FA8B8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E5AB3-A3E2-E351-5985-1C4F8FD16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9E801-A534-2A3F-F4F4-276E8D83F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ABFF1-B9D8-5490-D555-765A93213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99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ANALYSIS  •  ASSIGNMENT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Analysis Projects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  •  One dataset  •  End-to-end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35204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31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35204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352044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Bonus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Omair_Sales_Data.xlsx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1,998 transactions  •  6 cities  •  4 stores  •  5 reps  •  4 product categories  •  2004–2006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Abdullah Al-Omair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EDD0D79-A54B-B5F0-1F05-547D05C5B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-8723"/>
            <a:ext cx="3705225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deliver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013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783080" y="1856232"/>
            <a:ext cx="45720" cy="5943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6596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Project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6596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model, and analyze the data inside Excel — finish with a dashboard.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85292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1783080" y="2907792"/>
            <a:ext cx="45720" cy="5943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65960" y="2834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Report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multi-page interactive BI report with DAX measures and slicers.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90448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1783080" y="3959352"/>
            <a:ext cx="45720" cy="59436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65960" y="3886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Notebook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6596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pandas / numpy / matplotlib to clean, analyze, and visualize the data.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95604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1783080" y="5010912"/>
            <a:ext cx="45720" cy="59436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65960" y="4937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Bonus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965960" y="5303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SQL questions: Easy, Intermediate, Hard — submit answers and output.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practice the full data analysis workflow — cleaning, transformation, analysis, visualization.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Omair_Sales_Data — what's inside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Columns (Unclean sheet)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(Excel serial in raw)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6596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Riyadh, Jeddah, Dammam, Jubail, Abha, Hail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sales reps (some misspellings)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6596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Othaim, Panda, Lulu, Tamimi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4297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Toys, Home, Food, Tech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800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6596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5303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1,998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06840" y="16916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14400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1089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35508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chains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06840" y="31089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4400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2004–06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914400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452628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17920" y="4526280"/>
            <a:ext cx="73152" cy="164592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Data quality issues to fix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Dates stored as Excel serial numbers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Inconsistent rep names (e.g. 'Mjeeed' vs 'Mjeed')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 name variants (e.g. 'Lulu' vs 'Lulu Hyper')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values &amp; potential outliers in Cost / Sale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raw dataset into a clean analytical Excel report.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6949440" cy="36576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dataset — fix inconsistent values, missing values, formatting.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538728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49300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data so it can be used for analysis.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014216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useful columns (Profit, Margin, time fields, categories…).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489704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489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44398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summary tables by city, store, rep, and product.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965192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9194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basic statistics — average, min, max, variability.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394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final Excel dashboard with charts and slicers.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251460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89520" y="2514600"/>
            <a:ext cx="73152" cy="365760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Excel file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7724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containing: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dataset sheet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Summary analysis sheet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Final dashboard sheet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0" y="5486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.xlsx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business intelligence report using Power BI.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6949440" cy="36576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dataset into Power BI.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538728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49300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the data using Power Query.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014216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DAX measures (Total Sales, Total Profit, Average Sale…).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489704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489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44398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dataset by city, product, store, and rep.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965192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9194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multi-page report with meaningful visuals.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394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filters, slicers, and visual interactions.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251460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89520" y="2514600"/>
            <a:ext cx="73152" cy="365760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report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7724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containing: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Cleaned data model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4297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Calculated measures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Interactive dashboard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0" y="5486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.pbix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to explore, analyze, and visualize the dataset.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6949440" cy="3657600"/>
          </a:xfrm>
          <a:prstGeom prst="roundRect">
            <a:avLst>
              <a:gd name="adj" fmla="val 20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 using pandas.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538728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49300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cleaning and preprocessing.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014216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data to prepare it for analysis.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489704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489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44398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exploratory data analysis (EDA).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965192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9194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on key variables (Sales, Profit).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394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visualizations to communicate insights.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251460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89520" y="2514600"/>
            <a:ext cx="73152" cy="169164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 LIBRARIES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30175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01200" y="30175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0120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35204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0" y="3520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01200" y="35204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601200" y="3520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89520" y="434340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589520" y="4343400"/>
            <a:ext cx="73152" cy="182880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72400" y="4434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4754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 / script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772400" y="5166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 •  Analysis  •  Visuals  •  Insights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72400" y="5577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.ipynb / .py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 • 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SQL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writing SQL against the same Omair Sales dataset. Submit your queries and the resulting output.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26771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2402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Foundations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2651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sorting, and a single aggregate. SELECT / WHERE / GROUP BY.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59359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93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Joins &amp; Rank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 grouping and finding the top performer per category.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4919472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919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4892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— Window + CTE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86000" y="5303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functions, CTEs, and month-over-month profit growth per city.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080760"/>
            <a:ext cx="11247120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a .sql file with all three queries + a screenshot or CSV of the result.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 •  EASY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Total sales by 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0" y="36576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0" y="365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city, return the total Sale and total Profit. Sort the results by total profit (highest first).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     |  TotalSales  |  TotalProfit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----------+--------------+------------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Riyadh    |   ...        |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Jeddah    |   ...        |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|   ...        |   ...    (6 rows total)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4712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 →  GROUP BY  •  SUM()  •  ORDER BY ... DESC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BE4FD-8790-1EA9-E8AF-6FE60967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74179A-A2AC-C3FC-2C3B-29A7A9EC4BD1}"/>
              </a:ext>
            </a:extLst>
          </p:cNvPr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 •  EASY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1AB034-3EDA-0B8C-B187-B1DCA0BEB6B4}"/>
              </a:ext>
            </a:extLst>
          </p:cNvPr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Total sales by city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5AE990-1650-9773-2A01-630760A006A3}"/>
              </a:ext>
            </a:extLst>
          </p:cNvPr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EA8937-A8D2-61F8-4242-DEB970534EB0}"/>
              </a:ext>
            </a:extLst>
          </p:cNvPr>
          <p:cNvSpPr/>
          <p:nvPr/>
        </p:nvSpPr>
        <p:spPr>
          <a:xfrm>
            <a:off x="10058400" y="36576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06B023-7DFF-D77A-DCD6-FB3119CA3A66}"/>
              </a:ext>
            </a:extLst>
          </p:cNvPr>
          <p:cNvSpPr/>
          <p:nvPr/>
        </p:nvSpPr>
        <p:spPr>
          <a:xfrm>
            <a:off x="10058400" y="365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9105FAC-CC3A-7F81-9354-B728BED836CE}"/>
              </a:ext>
            </a:extLst>
          </p:cNvPr>
          <p:cNvSpPr/>
          <p:nvPr/>
        </p:nvSpPr>
        <p:spPr>
          <a:xfrm>
            <a:off x="457200" y="1691640"/>
            <a:ext cx="11247120" cy="475488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DEEC09F-1BA7-E5E7-29BA-A24EAD461DD8}"/>
              </a:ext>
            </a:extLst>
          </p:cNvPr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3515BC-F866-32A8-04AF-2FC0C4F187EF}"/>
              </a:ext>
            </a:extLst>
          </p:cNvPr>
          <p:cNvSpPr/>
          <p:nvPr/>
        </p:nvSpPr>
        <p:spPr>
          <a:xfrm>
            <a:off x="68580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7F7F58-6F17-F605-28A2-18490DBE9A6F}"/>
              </a:ext>
            </a:extLst>
          </p:cNvPr>
          <p:cNvSpPr/>
          <p:nvPr/>
        </p:nvSpPr>
        <p:spPr>
          <a:xfrm>
            <a:off x="685800" y="2194559"/>
            <a:ext cx="4001610" cy="416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chemeClr val="bg1"/>
                </a:solidFill>
              </a:rPr>
              <a:t>SELECT</a:t>
            </a:r>
          </a:p>
          <a:p>
            <a:r>
              <a:rPr lang="en-US" dirty="0">
                <a:solidFill>
                  <a:schemeClr val="bg1"/>
                </a:solidFill>
              </a:rPr>
              <a:t>    City,</a:t>
            </a:r>
          </a:p>
          <a:p>
            <a:r>
              <a:rPr lang="en-US" dirty="0">
                <a:solidFill>
                  <a:schemeClr val="bg1"/>
                </a:solidFill>
              </a:rPr>
              <a:t>    SUM(Sale) AS </a:t>
            </a:r>
            <a:r>
              <a:rPr lang="en-US" dirty="0" err="1">
                <a:solidFill>
                  <a:schemeClr val="bg1"/>
                </a:solidFill>
              </a:rPr>
              <a:t>TotalSales</a:t>
            </a:r>
            <a:r>
              <a:rPr lang="en-US" dirty="0">
                <a:solidFill>
                  <a:schemeClr val="bg1"/>
                </a:solidFill>
              </a:rPr>
              <a:t>,</a:t>
            </a:r>
          </a:p>
          <a:p>
            <a:r>
              <a:rPr lang="en-US" dirty="0">
                <a:solidFill>
                  <a:schemeClr val="bg1"/>
                </a:solidFill>
              </a:rPr>
              <a:t>    SUM(Sale - Cost) AS </a:t>
            </a:r>
            <a:r>
              <a:rPr lang="en-US" dirty="0" err="1">
                <a:solidFill>
                  <a:schemeClr val="bg1"/>
                </a:solidFill>
              </a:rPr>
              <a:t>TotalProfit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>
                <a:solidFill>
                  <a:schemeClr val="bg1"/>
                </a:solidFill>
              </a:rPr>
              <a:t>Sales_Data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GROUP BY City</a:t>
            </a:r>
          </a:p>
          <a:p>
            <a:r>
              <a:rPr lang="en-US" dirty="0">
                <a:solidFill>
                  <a:schemeClr val="bg1"/>
                </a:solidFill>
              </a:rPr>
              <a:t>ORDER BY </a:t>
            </a:r>
            <a:r>
              <a:rPr lang="en-US" dirty="0" err="1">
                <a:solidFill>
                  <a:schemeClr val="bg1"/>
                </a:solidFill>
              </a:rPr>
              <a:t>TotalProfit</a:t>
            </a:r>
            <a:r>
              <a:rPr lang="en-US" dirty="0">
                <a:solidFill>
                  <a:schemeClr val="bg1"/>
                </a:solidFill>
              </a:rPr>
              <a:t> DESC;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BA3C4F-920B-9214-528F-65D435F3EE6D}"/>
              </a:ext>
            </a:extLst>
          </p:cNvPr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DC0ADCD-38D0-B302-CF25-DDD55024FF28}"/>
              </a:ext>
            </a:extLst>
          </p:cNvPr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FF6485-6DF6-D430-9833-C377FAD2E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592" y="2286000"/>
            <a:ext cx="3410426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8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 •  INTERMEDIATE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Top rep per product category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784080" y="36576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0" y="365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product category (Prod), find the sales rep with the highest total profit, along with that profit amount. Return one row per product category.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   |  Rep      |  TotalProfit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-------+-----------+--------------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Toys   |   ...     | 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  |   ...     | 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|   ...     |    ...     (4 rows total)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4712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 →  GROUP BY Prod, Rep  •  RANK() / ROW_NUMBER() OVER (PARTITION BY Prod ORDER BY ... DESC)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9C01F-386C-3EC4-0CE5-E9D3BABD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49D917-3317-9478-9501-CE9E0F0F54A3}"/>
              </a:ext>
            </a:extLst>
          </p:cNvPr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 •  INTERMEDIATE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ADCC01-C347-547D-F0D8-B37836711C03}"/>
              </a:ext>
            </a:extLst>
          </p:cNvPr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Top rep per product category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C5C119-D75E-D882-F657-F8602939F0BE}"/>
              </a:ext>
            </a:extLst>
          </p:cNvPr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03DC6B-6964-C06D-E322-B3AA3CF35514}"/>
              </a:ext>
            </a:extLst>
          </p:cNvPr>
          <p:cNvSpPr/>
          <p:nvPr/>
        </p:nvSpPr>
        <p:spPr>
          <a:xfrm>
            <a:off x="9784080" y="36576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81F987-39B4-AF6F-265B-470789BE93D3}"/>
              </a:ext>
            </a:extLst>
          </p:cNvPr>
          <p:cNvSpPr/>
          <p:nvPr/>
        </p:nvSpPr>
        <p:spPr>
          <a:xfrm>
            <a:off x="9784080" y="365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C1FA305-0502-543F-BEF8-B886610CB9B4}"/>
              </a:ext>
            </a:extLst>
          </p:cNvPr>
          <p:cNvSpPr/>
          <p:nvPr/>
        </p:nvSpPr>
        <p:spPr>
          <a:xfrm>
            <a:off x="457200" y="1691640"/>
            <a:ext cx="11369040" cy="475488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4AEB985-5E0F-4B27-2F59-E9C9F50E7A37}"/>
              </a:ext>
            </a:extLst>
          </p:cNvPr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2219DD-6396-AA70-C2F7-90B719FA461D}"/>
              </a:ext>
            </a:extLst>
          </p:cNvPr>
          <p:cNvSpPr/>
          <p:nvPr/>
        </p:nvSpPr>
        <p:spPr>
          <a:xfrm>
            <a:off x="68580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D84E16-8A8C-BCAB-5EBB-D6AFBF9C50D2}"/>
              </a:ext>
            </a:extLst>
          </p:cNvPr>
          <p:cNvSpPr/>
          <p:nvPr/>
        </p:nvSpPr>
        <p:spPr>
          <a:xfrm>
            <a:off x="685800" y="2148840"/>
            <a:ext cx="486274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chemeClr val="bg1"/>
                </a:solidFill>
              </a:rPr>
              <a:t>WITH </a:t>
            </a:r>
            <a:r>
              <a:rPr lang="en-US" sz="1200" dirty="0" err="1">
                <a:solidFill>
                  <a:schemeClr val="bg1"/>
                </a:solidFill>
              </a:rPr>
              <a:t>RepProfit</a:t>
            </a:r>
            <a:r>
              <a:rPr lang="en-US" sz="1200" dirty="0">
                <a:solidFill>
                  <a:schemeClr val="bg1"/>
                </a:solidFill>
              </a:rPr>
              <a:t> AS (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SELECT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Prod,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Rep,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SUM(Sale - Cost) AS </a:t>
            </a:r>
            <a:r>
              <a:rPr lang="en-US" sz="1200" dirty="0" err="1">
                <a:solidFill>
                  <a:schemeClr val="bg1"/>
                </a:solidFill>
              </a:rPr>
              <a:t>TotalProfit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    FROM </a:t>
            </a:r>
            <a:r>
              <a:rPr lang="en-US" sz="1200" dirty="0" err="1">
                <a:solidFill>
                  <a:schemeClr val="bg1"/>
                </a:solidFill>
              </a:rPr>
              <a:t>Sales_Data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    GROUP BY Prod, Rep</a:t>
            </a:r>
          </a:p>
          <a:p>
            <a:r>
              <a:rPr lang="en-US" sz="1200" dirty="0">
                <a:solidFill>
                  <a:schemeClr val="bg1"/>
                </a:solidFill>
              </a:rPr>
              <a:t>),</a:t>
            </a:r>
          </a:p>
          <a:p>
            <a:r>
              <a:rPr lang="en-US" sz="1200" dirty="0">
                <a:solidFill>
                  <a:schemeClr val="bg1"/>
                </a:solidFill>
              </a:rPr>
              <a:t>Ranked AS (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SELECT *,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ROW_NUMBER() OVER (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    PARTITION BY Prod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    ORDER BY </a:t>
            </a:r>
            <a:r>
              <a:rPr lang="en-US" sz="1200" dirty="0" err="1">
                <a:solidFill>
                  <a:schemeClr val="bg1"/>
                </a:solidFill>
              </a:rPr>
              <a:t>TotalProfit</a:t>
            </a:r>
            <a:r>
              <a:rPr lang="en-US" sz="1200" dirty="0">
                <a:solidFill>
                  <a:schemeClr val="bg1"/>
                </a:solidFill>
              </a:rPr>
              <a:t> DESC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       ) AS </a:t>
            </a:r>
            <a:r>
              <a:rPr lang="en-US" sz="1200" dirty="0" err="1">
                <a:solidFill>
                  <a:schemeClr val="bg1"/>
                </a:solidFill>
              </a:rPr>
              <a:t>rn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    FROM </a:t>
            </a:r>
            <a:r>
              <a:rPr lang="en-US" sz="1200" dirty="0" err="1">
                <a:solidFill>
                  <a:schemeClr val="bg1"/>
                </a:solidFill>
              </a:rPr>
              <a:t>RepProfit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)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SELECT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Prod,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Rep,</a:t>
            </a:r>
          </a:p>
          <a:p>
            <a:r>
              <a:rPr lang="en-US" sz="1200" dirty="0">
                <a:solidFill>
                  <a:schemeClr val="bg1"/>
                </a:solidFill>
              </a:rPr>
              <a:t>    </a:t>
            </a:r>
            <a:r>
              <a:rPr lang="en-US" sz="1200" dirty="0" err="1">
                <a:solidFill>
                  <a:schemeClr val="bg1"/>
                </a:solidFill>
              </a:rPr>
              <a:t>TotalProfit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FROM Ranked</a:t>
            </a:r>
          </a:p>
          <a:p>
            <a:r>
              <a:rPr lang="en-US" sz="1200" dirty="0">
                <a:solidFill>
                  <a:schemeClr val="bg1"/>
                </a:solidFill>
              </a:rPr>
              <a:t>WHERE </a:t>
            </a:r>
            <a:r>
              <a:rPr lang="en-US" sz="1200" dirty="0" err="1">
                <a:solidFill>
                  <a:schemeClr val="bg1"/>
                </a:solidFill>
              </a:rPr>
              <a:t>rn</a:t>
            </a:r>
            <a:r>
              <a:rPr lang="en-US" sz="1200" dirty="0">
                <a:solidFill>
                  <a:schemeClr val="bg1"/>
                </a:solidFill>
              </a:rPr>
              <a:t> = 1;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239EB37-DD1B-4390-8550-35B10B8ECE4E}"/>
              </a:ext>
            </a:extLst>
          </p:cNvPr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06614E4-F924-535D-91F6-6ABD955102E4}"/>
              </a:ext>
            </a:extLst>
          </p:cNvPr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D9A83E-E8C7-F45D-1F0C-574650DB3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037" y="2321683"/>
            <a:ext cx="3677163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46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 • 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— Month-over-month profit growth per 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0" y="36576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0" y="365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City and Month, return total profit and the % change vs. the previous month for that same city. Show only rows where the previous month exists.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    |  YearMonth   |  MonthlyProfit  |  PrevMonthProfit  |  MoMGrowthPct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---------+--------------+-----------------+-------------------+----------------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Riyadh   |  2005-02-01  |    ...          |      ...          |  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Riyadh   |  2005-03-01  |    ...          |      ...          |  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|  ...         |    ...          |      ...          |    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4712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 →  CTE  •  DATEFROMPARTS / EOMONTH  •  LAG() OVER (PARTITION BY City ORDER BY YearMonth)  •  NULLIF()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D05DA-DB77-1B76-BE8A-4C3770BD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2B2928-B25B-3031-9A11-73B468A996DC}"/>
              </a:ext>
            </a:extLst>
          </p:cNvPr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 •  HARD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5B4C02-86D8-0BAE-224E-C895D538F082}"/>
              </a:ext>
            </a:extLst>
          </p:cNvPr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— Month-over-month profit growth per city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21E9F50-3A43-2C90-3B86-EA0D5F0E945D}"/>
              </a:ext>
            </a:extLst>
          </p:cNvPr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063537-0A8B-3C38-536B-5AA443B4299B}"/>
              </a:ext>
            </a:extLst>
          </p:cNvPr>
          <p:cNvSpPr/>
          <p:nvPr/>
        </p:nvSpPr>
        <p:spPr>
          <a:xfrm>
            <a:off x="10058400" y="36576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1EFED08-1B34-761F-9473-BC6373CE6B62}"/>
              </a:ext>
            </a:extLst>
          </p:cNvPr>
          <p:cNvSpPr/>
          <p:nvPr/>
        </p:nvSpPr>
        <p:spPr>
          <a:xfrm>
            <a:off x="10058400" y="365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85176CF-0DF4-914B-B8EC-76AF385195A6}"/>
              </a:ext>
            </a:extLst>
          </p:cNvPr>
          <p:cNvSpPr/>
          <p:nvPr/>
        </p:nvSpPr>
        <p:spPr>
          <a:xfrm>
            <a:off x="457200" y="1691639"/>
            <a:ext cx="11247120" cy="4846319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3657C22-D505-3A6D-6A13-2B7A0E40E6B9}"/>
              </a:ext>
            </a:extLst>
          </p:cNvPr>
          <p:cNvSpPr/>
          <p:nvPr/>
        </p:nvSpPr>
        <p:spPr>
          <a:xfrm>
            <a:off x="457200" y="1691640"/>
            <a:ext cx="73152" cy="219456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1E6641-D1EE-8A38-2CC0-85DEA0455A11}"/>
              </a:ext>
            </a:extLst>
          </p:cNvPr>
          <p:cNvSpPr/>
          <p:nvPr/>
        </p:nvSpPr>
        <p:spPr>
          <a:xfrm>
            <a:off x="685800" y="1828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B6B13D-D120-4122-2C7F-A87FDAF304C4}"/>
              </a:ext>
            </a:extLst>
          </p:cNvPr>
          <p:cNvSpPr/>
          <p:nvPr/>
        </p:nvSpPr>
        <p:spPr>
          <a:xfrm>
            <a:off x="685800" y="2194559"/>
            <a:ext cx="4507637" cy="434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chemeClr val="bg1"/>
                </a:solidFill>
              </a:rPr>
              <a:t>WITH </a:t>
            </a:r>
            <a:r>
              <a:rPr lang="en-US" sz="900" dirty="0" err="1">
                <a:solidFill>
                  <a:schemeClr val="bg1"/>
                </a:solidFill>
              </a:rPr>
              <a:t>MonthlyProfit</a:t>
            </a:r>
            <a:r>
              <a:rPr lang="en-US" sz="900" dirty="0">
                <a:solidFill>
                  <a:schemeClr val="bg1"/>
                </a:solidFill>
              </a:rPr>
              <a:t> AS (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SELECT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City,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DATEFROMPARTS(YEAR(Date), MONTH(Date), 1) AS </a:t>
            </a:r>
            <a:r>
              <a:rPr lang="en-US" sz="900" dirty="0" err="1">
                <a:solidFill>
                  <a:schemeClr val="bg1"/>
                </a:solidFill>
              </a:rPr>
              <a:t>YearMonth</a:t>
            </a:r>
            <a:r>
              <a:rPr lang="en-US" sz="900" dirty="0">
                <a:solidFill>
                  <a:schemeClr val="bg1"/>
                </a:solidFill>
              </a:rPr>
              <a:t>,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SUM(Sale - Cost) AS </a:t>
            </a:r>
            <a:r>
              <a:rPr lang="en-US" sz="900" dirty="0" err="1">
                <a:solidFill>
                  <a:schemeClr val="bg1"/>
                </a:solidFill>
              </a:rPr>
              <a:t>MonthlyProfit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  FROM </a:t>
            </a:r>
            <a:r>
              <a:rPr lang="en-US" sz="900" dirty="0" err="1">
                <a:solidFill>
                  <a:schemeClr val="bg1"/>
                </a:solidFill>
              </a:rPr>
              <a:t>Sales_Data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  GROUP BY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City,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DATEFROMPARTS(YEAR(Date), MONTH(Date), 1)</a:t>
            </a:r>
          </a:p>
          <a:p>
            <a:r>
              <a:rPr lang="en-US" sz="900" dirty="0">
                <a:solidFill>
                  <a:schemeClr val="bg1"/>
                </a:solidFill>
              </a:rPr>
              <a:t>),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 err="1">
                <a:solidFill>
                  <a:schemeClr val="bg1"/>
                </a:solidFill>
              </a:rPr>
              <a:t>WithLag</a:t>
            </a:r>
            <a:r>
              <a:rPr lang="en-US" sz="900" dirty="0">
                <a:solidFill>
                  <a:schemeClr val="bg1"/>
                </a:solidFill>
              </a:rPr>
              <a:t> AS (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SELECT *,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   LAG(</a:t>
            </a:r>
            <a:r>
              <a:rPr lang="en-US" sz="900" dirty="0" err="1">
                <a:solidFill>
                  <a:schemeClr val="bg1"/>
                </a:solidFill>
              </a:rPr>
              <a:t>MonthlyProfit</a:t>
            </a:r>
            <a:r>
              <a:rPr lang="en-US" sz="900" dirty="0">
                <a:solidFill>
                  <a:schemeClr val="bg1"/>
                </a:solidFill>
              </a:rPr>
              <a:t>) OVER (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       PARTITION BY City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       ORDER BY </a:t>
            </a:r>
            <a:r>
              <a:rPr lang="en-US" sz="900" dirty="0" err="1">
                <a:solidFill>
                  <a:schemeClr val="bg1"/>
                </a:solidFill>
              </a:rPr>
              <a:t>YearMonth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         ) AS </a:t>
            </a:r>
            <a:r>
              <a:rPr lang="en-US" sz="900" dirty="0" err="1">
                <a:solidFill>
                  <a:schemeClr val="bg1"/>
                </a:solidFill>
              </a:rPr>
              <a:t>PrevMonthProfit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    FROM </a:t>
            </a:r>
            <a:r>
              <a:rPr lang="en-US" sz="900" dirty="0" err="1">
                <a:solidFill>
                  <a:schemeClr val="bg1"/>
                </a:solidFill>
              </a:rPr>
              <a:t>MonthlyProfit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)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SELECT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City,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</a:t>
            </a:r>
            <a:r>
              <a:rPr lang="en-US" sz="900" dirty="0" err="1">
                <a:solidFill>
                  <a:schemeClr val="bg1"/>
                </a:solidFill>
              </a:rPr>
              <a:t>YearMonth</a:t>
            </a:r>
            <a:r>
              <a:rPr lang="en-US" sz="900" dirty="0">
                <a:solidFill>
                  <a:schemeClr val="bg1"/>
                </a:solidFill>
              </a:rPr>
              <a:t>,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</a:t>
            </a:r>
            <a:r>
              <a:rPr lang="en-US" sz="900" dirty="0" err="1">
                <a:solidFill>
                  <a:schemeClr val="bg1"/>
                </a:solidFill>
              </a:rPr>
              <a:t>MonthlyProfit</a:t>
            </a:r>
            <a:r>
              <a:rPr lang="en-US" sz="900" dirty="0">
                <a:solidFill>
                  <a:schemeClr val="bg1"/>
                </a:solidFill>
              </a:rPr>
              <a:t>,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</a:t>
            </a:r>
            <a:r>
              <a:rPr lang="en-US" sz="900" dirty="0" err="1">
                <a:solidFill>
                  <a:schemeClr val="bg1"/>
                </a:solidFill>
              </a:rPr>
              <a:t>PrevMonthProfit</a:t>
            </a:r>
            <a:r>
              <a:rPr lang="en-US" sz="900" dirty="0">
                <a:solidFill>
                  <a:schemeClr val="bg1"/>
                </a:solidFill>
              </a:rPr>
              <a:t>,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CASE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WHEN </a:t>
            </a:r>
            <a:r>
              <a:rPr lang="en-US" sz="900" dirty="0" err="1">
                <a:solidFill>
                  <a:schemeClr val="bg1"/>
                </a:solidFill>
              </a:rPr>
              <a:t>PrevMonthProfit</a:t>
            </a:r>
            <a:r>
              <a:rPr lang="en-US" sz="900" dirty="0">
                <a:solidFill>
                  <a:schemeClr val="bg1"/>
                </a:solidFill>
              </a:rPr>
              <a:t> IS NULL THEN NULL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    ELSE (</a:t>
            </a:r>
            <a:r>
              <a:rPr lang="en-US" sz="900" dirty="0" err="1">
                <a:solidFill>
                  <a:schemeClr val="bg1"/>
                </a:solidFill>
              </a:rPr>
              <a:t>MonthlyProfit</a:t>
            </a:r>
            <a:r>
              <a:rPr lang="en-US" sz="900" dirty="0">
                <a:solidFill>
                  <a:schemeClr val="bg1"/>
                </a:solidFill>
              </a:rPr>
              <a:t> - </a:t>
            </a:r>
            <a:r>
              <a:rPr lang="en-US" sz="900" dirty="0" err="1">
                <a:solidFill>
                  <a:schemeClr val="bg1"/>
                </a:solidFill>
              </a:rPr>
              <a:t>PrevMonthProfit</a:t>
            </a:r>
            <a:r>
              <a:rPr lang="en-US" sz="900" dirty="0">
                <a:solidFill>
                  <a:schemeClr val="bg1"/>
                </a:solidFill>
              </a:rPr>
              <a:t>) * 1.0 / NULLIF(</a:t>
            </a:r>
            <a:r>
              <a:rPr lang="en-US" sz="900" dirty="0" err="1">
                <a:solidFill>
                  <a:schemeClr val="bg1"/>
                </a:solidFill>
              </a:rPr>
              <a:t>PrevMonthProfit</a:t>
            </a:r>
            <a:r>
              <a:rPr lang="en-US" sz="900" dirty="0">
                <a:solidFill>
                  <a:schemeClr val="bg1"/>
                </a:solidFill>
              </a:rPr>
              <a:t>, 0)</a:t>
            </a:r>
          </a:p>
          <a:p>
            <a:r>
              <a:rPr lang="en-US" sz="900" dirty="0">
                <a:solidFill>
                  <a:schemeClr val="bg1"/>
                </a:solidFill>
              </a:rPr>
              <a:t>    END AS </a:t>
            </a:r>
            <a:r>
              <a:rPr lang="en-US" sz="900" dirty="0" err="1">
                <a:solidFill>
                  <a:schemeClr val="bg1"/>
                </a:solidFill>
              </a:rPr>
              <a:t>MoMGrowthPct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FROM </a:t>
            </a:r>
            <a:r>
              <a:rPr lang="en-US" sz="900" dirty="0" err="1">
                <a:solidFill>
                  <a:schemeClr val="bg1"/>
                </a:solidFill>
              </a:rPr>
              <a:t>WithLag</a:t>
            </a:r>
            <a:endParaRPr lang="en-US" sz="900" dirty="0">
              <a:solidFill>
                <a:schemeClr val="bg1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WHERE </a:t>
            </a:r>
            <a:r>
              <a:rPr lang="en-US" sz="900" dirty="0" err="1">
                <a:solidFill>
                  <a:schemeClr val="bg1"/>
                </a:solidFill>
              </a:rPr>
              <a:t>PrevMonthProfit</a:t>
            </a:r>
            <a:r>
              <a:rPr lang="en-US" sz="900" dirty="0">
                <a:solidFill>
                  <a:schemeClr val="bg1"/>
                </a:solidFill>
              </a:rPr>
              <a:t> IS NOT NULL;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5F060C7-F4B5-A791-5BB4-9D6AEBED9C75}"/>
              </a:ext>
            </a:extLst>
          </p:cNvPr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67002FD-7BCD-80CD-0E84-3A313617BA7B}"/>
              </a:ext>
            </a:extLst>
          </p:cNvPr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61575A-5398-A7B9-8B9F-D3C69CC43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721" y="2147876"/>
            <a:ext cx="6511479" cy="438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97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your work will be evaluated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0756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of cleaning steps, handling of nulls and outliers, type fixes.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679192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6791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2624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Depth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9443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aggregations, statistics, and meaningful breakdowns.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478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38130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choice of chart types, dashboards that actually answer questions.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4416552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472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416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011680" y="4361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&amp; Storytelling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0" y="46817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conclusions tied to the numbers, not just charts.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11247120" cy="749808"/>
          </a:xfrm>
          <a:prstGeom prst="roundRect">
            <a:avLst>
              <a:gd name="adj" fmla="val 9756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5285232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52852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11680" y="5230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&amp; File Quality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11680" y="55504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code, organized sheets, clean .pbix model.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submit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91440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 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YourName_DataAnalysis/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 📊  excel_project.xlsx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 📈  powerbi_report.pbix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 🐍  python_analysis.ipynb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 🗄️  sql_bonus.sql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zipped folder per student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Filenames in English, no spaces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Each project standalone &amp; runnable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6916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334155"/>
          </a:solidFill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CHECKLIST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Excel — clean data + summary +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Power BI — model + measures +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Python — cleaning + EDA + visuals + insights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3566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SQL — three answered questions + outputs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Brief written conclusions for each project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4754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should demonstrate your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5029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 thinking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5440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ability to work with data.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5806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luck — and have fun with it!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Takniat Al-Oloum  •  Data Analysis Projects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1595</Words>
  <Application>Microsoft Office PowerPoint</Application>
  <PresentationFormat>Widescreen</PresentationFormat>
  <Paragraphs>334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Projects Assignment</dc:title>
  <dc:subject>PptxGenJS Presentation</dc:subject>
  <dc:creator>PptxGenJS</dc:creator>
  <cp:lastModifiedBy>Anqaعنقاء حمدان ALSHAMMRYالشمري</cp:lastModifiedBy>
  <cp:revision>2</cp:revision>
  <dcterms:created xsi:type="dcterms:W3CDTF">2026-05-04T00:58:55Z</dcterms:created>
  <dcterms:modified xsi:type="dcterms:W3CDTF">2026-05-12T19:50:41Z</dcterms:modified>
</cp:coreProperties>
</file>